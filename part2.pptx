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>
        <p:scale>
          <a:sx n="75" d="100"/>
          <a:sy n="75" d="100"/>
        </p:scale>
        <p:origin x="36" y="-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73F6-89F5-7808-2F47-5CDF04CA5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23DC3-6714-94AE-CDF5-29E4ADEA6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94752-FC5B-6821-6426-C5DF1611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E6C1-50B4-D376-C2EB-C1BA249E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3E742-2E91-1017-FA97-939D0FD6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5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D2CD-D76B-0865-8787-50CD4A5C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23870-4F30-CA54-39CB-F39F7A83B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086A1-2E04-FAF2-8A2F-F6465706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6499-3D2C-0A9B-06CA-3DE48141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66BF-7A9B-1147-2C5D-363CC46D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779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FB32-B791-0655-F7FE-9DECC7C9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E6A59-21DC-C95D-1067-14EC2AB2A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D508-456C-2F79-9271-E58AAE0A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F0E9-6AAC-2814-1CD9-2F5D1265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97E1-519E-4A16-9D1C-E06F87CB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73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5422-D1E3-76CB-FADE-9C92AB18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120CC-CC6A-3052-8F10-2BF4F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9840-E47A-AF46-CF78-73820BAE2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B1548-1296-5077-131D-CD01F3E5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25DBA-FF8B-2F58-7637-21422972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2DFE3-5DF2-A5B1-FAD6-6C054DF7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258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37B8-2C5B-C033-B1F8-44770F0C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2963-C892-A736-E030-2C44F6DB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39030-CBFE-6B24-D6ED-8D7F23F71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A678E-95C3-581A-6F7F-DA01C2E4E4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8E514-869B-213B-1FB8-A718B19B7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BF0F18-8D22-9424-F50A-5D4D5A29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6F51B-DB5C-0DB5-FD44-2501A007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FD9EF-C571-57C9-7C52-57FFD428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65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B63A-D1E0-CEB7-E2CF-95E97975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5E87F-8253-442B-C0CC-2BDEA18E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149EE-C126-4F82-0FA8-FBE611DF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08B9D-44F2-8E81-E379-A167CD90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2795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36D3E-E2DE-E8A8-6241-BE88CE91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44D87-4989-2322-A463-7FFE8982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F01AB-644A-EBF7-F181-F45587F8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7500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0B42-85DD-FED6-2B04-0F3E9635F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1297-F589-BF03-5255-2F556FF96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C5D19-5338-0B0D-53F3-7D9FC3ADE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B735A-032B-B3B9-0F8C-1BD4D58B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4AA11-B2B1-83BC-C996-5054F2DC1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5F6DF-2DC2-D20F-AA40-C868F645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584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6134B-048C-6D23-3E8C-20CDBC9B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294DA-5CA5-4A5A-5D5E-5D45A81FCB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4C395-7163-BBD7-3AF5-570BD7719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B2AF-4F59-472C-A41D-8974437A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484C-2428-9068-C8F3-73B29DBD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49235-B2AD-4E88-0B32-7D32121C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04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280F-597E-B29E-A123-0E549AD2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1CE3E-DFA2-EA2C-73E3-92F44113B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013E-4066-B4EA-F144-F17814000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85173-5BFA-8876-EEF9-1751C81C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C66E-492F-7E1A-B750-CD8D84CD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773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91B3BE-EDC8-E8F8-60F6-7F4116B87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7E018-1C39-14A4-92D8-8ED17DF99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3CBD-30C1-320E-4467-8E9560F7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4A4EF-8D1D-20BC-A325-1A01135C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D83C-6CE0-BAC0-3FA0-62D3ABF9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471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C3E2D-98CF-69A5-D281-3A141570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5236D-0444-7C1B-70BD-90EB258BA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D94CE-C5F3-AF1F-08B4-DEB788787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EF63F-7B99-4523-9497-26C1B806D465}" type="datetimeFigureOut">
              <a:rPr lang="en-SG" smtClean="0"/>
              <a:t>14/9/2026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A983A-155D-3DDD-98C8-E80C4B431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B7931-96E7-2832-A916-50B0073A3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8F78E-9A3D-4208-95D0-C31D46E05D3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115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3A99E-9947-919D-8BBB-19E8ACB19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Toh Jun Long</a:t>
            </a:r>
            <a:endParaRPr lang="en-SG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FCF26-0F65-F2E2-4114-221CF22B2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HDB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891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2BB3C7-9C95-EF89-74AA-C406F7FC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Requirements</a:t>
            </a:r>
            <a:endParaRPr lang="en-SG" sz="40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0D6F22-870A-88C6-EDAC-26AAD660F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1744133"/>
            <a:ext cx="11870267" cy="49445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SG" sz="2000" dirty="0"/>
              <a:t>Data Ingestion Requirements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Batch data ingestion from data.gov.sg (internet).</a:t>
            </a:r>
            <a:r>
              <a:rPr lang="en-SG" sz="2000" dirty="0"/>
              <a:t> The design should support large file transmission such as files &gt; 100 MB. (network stability)</a:t>
            </a:r>
          </a:p>
          <a:p>
            <a:pPr marL="457200" indent="-457200">
              <a:buFont typeface="+mj-lt"/>
              <a:buAutoNum type="arabicPeriod"/>
            </a:pPr>
            <a:r>
              <a:rPr lang="en-SG" sz="2000" dirty="0"/>
              <a:t>data.gov.sg endpoint is public facing while HDB’s data platform resides in private VPCs. The design should factor in network and system component segmentations as part of security consideration.</a:t>
            </a:r>
          </a:p>
          <a:p>
            <a:pPr marL="0" indent="0">
              <a:buNone/>
            </a:pPr>
            <a:r>
              <a:rPr lang="en-SG" sz="2000" dirty="0"/>
              <a:t>Data Exploitation Requirements</a:t>
            </a:r>
          </a:p>
          <a:p>
            <a:pPr marL="0" indent="0">
              <a:buNone/>
            </a:pPr>
            <a:r>
              <a:rPr lang="en-SG" sz="2000" dirty="0"/>
              <a:t>The Data Science Team is using Tableau on AWS for analysis. It resides in another private VPC. The architecture should support: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SG" sz="2000" dirty="0"/>
              <a:t>Data integration via Athena Driver. Reference: Tableau Amazon Athena connector documentation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SG" sz="2000" dirty="0"/>
              <a:t>The integration design should factor in network security to keep network traffic flow private</a:t>
            </a:r>
          </a:p>
          <a:p>
            <a:pPr marL="0" indent="0">
              <a:buNone/>
            </a:pP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158401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4C3B02-166A-FF34-1375-BD803E254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726" y="2374738"/>
            <a:ext cx="596900" cy="59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91A098-B3E7-EE20-FE3B-37891384F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33" y="1061509"/>
            <a:ext cx="381000" cy="381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7BDA4B-DB07-53C6-B653-8437A342BE7A}"/>
              </a:ext>
            </a:extLst>
          </p:cNvPr>
          <p:cNvSpPr/>
          <p:nvPr/>
        </p:nvSpPr>
        <p:spPr>
          <a:xfrm>
            <a:off x="295274" y="1069975"/>
            <a:ext cx="4465411" cy="49679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41EAC0-F9CA-E040-3EB7-0C5A7EB04B85}"/>
              </a:ext>
            </a:extLst>
          </p:cNvPr>
          <p:cNvSpPr/>
          <p:nvPr/>
        </p:nvSpPr>
        <p:spPr>
          <a:xfrm>
            <a:off x="295275" y="104775"/>
            <a:ext cx="1620611" cy="55087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E86D05-C3A3-C05E-6CED-C51943D8C466}"/>
              </a:ext>
            </a:extLst>
          </p:cNvPr>
          <p:cNvSpPr txBox="1"/>
          <p:nvPr/>
        </p:nvSpPr>
        <p:spPr>
          <a:xfrm>
            <a:off x="752475" y="148709"/>
            <a:ext cx="933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Internet</a:t>
            </a:r>
          </a:p>
          <a:p>
            <a:r>
              <a:rPr lang="en-US" sz="1200" dirty="0"/>
              <a:t>data.gov.sg</a:t>
            </a:r>
            <a:endParaRPr lang="en-SG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393E66-72A2-3483-0DBC-6DF971D56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104775"/>
            <a:ext cx="457200" cy="45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661BB9-CB67-01FE-8195-9ADD2DB14B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4" y="2373453"/>
            <a:ext cx="596899" cy="5968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1985DD-A990-8BA3-8FB6-0C7EDB23BE96}"/>
              </a:ext>
            </a:extLst>
          </p:cNvPr>
          <p:cNvSpPr txBox="1"/>
          <p:nvPr/>
        </p:nvSpPr>
        <p:spPr>
          <a:xfrm>
            <a:off x="1134533" y="2967335"/>
            <a:ext cx="692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lambda</a:t>
            </a:r>
          </a:p>
          <a:p>
            <a:r>
              <a:rPr lang="en-SG" sz="1200" dirty="0"/>
              <a:t>Read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A80CCA7-006F-A120-E8D5-965150259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516747"/>
            <a:ext cx="457200" cy="4572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138E5FC-741F-B2C6-FD94-F5584FF2CED1}"/>
              </a:ext>
            </a:extLst>
          </p:cNvPr>
          <p:cNvSpPr/>
          <p:nvPr/>
        </p:nvSpPr>
        <p:spPr>
          <a:xfrm>
            <a:off x="677333" y="1516747"/>
            <a:ext cx="3807581" cy="42712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99CC10-DD62-3123-CFCC-1F6EBB14244D}"/>
              </a:ext>
            </a:extLst>
          </p:cNvPr>
          <p:cNvSpPr txBox="1"/>
          <p:nvPr/>
        </p:nvSpPr>
        <p:spPr>
          <a:xfrm>
            <a:off x="1218980" y="1559054"/>
            <a:ext cx="100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HDB VPC</a:t>
            </a:r>
            <a:endParaRPr lang="en-SG" sz="12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B7372FF-BEEB-A035-976B-3886A89257DC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16200000" flipH="1">
            <a:off x="447952" y="1313280"/>
            <a:ext cx="1717801" cy="402543"/>
          </a:xfrm>
          <a:prstGeom prst="bentConnector3">
            <a:avLst>
              <a:gd name="adj1" fmla="val 33101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5E632640-D6E7-616F-F259-4312667A1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692" y="2443302"/>
            <a:ext cx="457200" cy="457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320244F-2227-F472-83A5-2E73B0DEE74E}"/>
              </a:ext>
            </a:extLst>
          </p:cNvPr>
          <p:cNvSpPr txBox="1"/>
          <p:nvPr/>
        </p:nvSpPr>
        <p:spPr>
          <a:xfrm>
            <a:off x="2068073" y="2965215"/>
            <a:ext cx="1086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S3 Object Raw Storage</a:t>
            </a:r>
            <a:endParaRPr lang="en-SG" sz="12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C0E95F-6F2F-159B-8F8B-D921F5821E18}"/>
              </a:ext>
            </a:extLst>
          </p:cNvPr>
          <p:cNvCxnSpPr>
            <a:stCxn id="17" idx="3"/>
            <a:endCxn id="32" idx="1"/>
          </p:cNvCxnSpPr>
          <p:nvPr/>
        </p:nvCxnSpPr>
        <p:spPr>
          <a:xfrm flipV="1">
            <a:off x="1806573" y="2671902"/>
            <a:ext cx="5531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E9C88F-978D-9F2A-03AA-600E22AABD1D}"/>
              </a:ext>
            </a:extLst>
          </p:cNvPr>
          <p:cNvCxnSpPr>
            <a:cxnSpLocks/>
            <a:stCxn id="32" idx="3"/>
            <a:endCxn id="6" idx="1"/>
          </p:cNvCxnSpPr>
          <p:nvPr/>
        </p:nvCxnSpPr>
        <p:spPr>
          <a:xfrm>
            <a:off x="2816892" y="2671902"/>
            <a:ext cx="486834" cy="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3566E2B-1E6D-E5CB-9BD8-A4541E27F0D4}"/>
              </a:ext>
            </a:extLst>
          </p:cNvPr>
          <p:cNvSpPr txBox="1"/>
          <p:nvPr/>
        </p:nvSpPr>
        <p:spPr>
          <a:xfrm>
            <a:off x="3032701" y="2959880"/>
            <a:ext cx="1278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EC2 Instance</a:t>
            </a:r>
          </a:p>
          <a:p>
            <a:pPr algn="ctr"/>
            <a:r>
              <a:rPr lang="en-SG" sz="1200" dirty="0" err="1"/>
              <a:t>hdb-test.ipynb</a:t>
            </a:r>
            <a:endParaRPr lang="en-SG" sz="12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6E16458-8589-444A-C22A-7C71A7104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30" y="1061509"/>
            <a:ext cx="381000" cy="38100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2CCEA54-A1C5-2BAB-B9E9-E5040F633875}"/>
              </a:ext>
            </a:extLst>
          </p:cNvPr>
          <p:cNvSpPr/>
          <p:nvPr/>
        </p:nvSpPr>
        <p:spPr>
          <a:xfrm>
            <a:off x="5536871" y="1069975"/>
            <a:ext cx="4465411" cy="49679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C069D1-CF82-EDCA-1B03-79F04BD22CB2}"/>
              </a:ext>
            </a:extLst>
          </p:cNvPr>
          <p:cNvSpPr txBox="1"/>
          <p:nvPr/>
        </p:nvSpPr>
        <p:spPr>
          <a:xfrm>
            <a:off x="6451270" y="3052212"/>
            <a:ext cx="659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Athena</a:t>
            </a:r>
            <a:endParaRPr lang="en-SG" sz="12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D838611-B073-DCD5-138A-D3D651AA9A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930" y="1516747"/>
            <a:ext cx="457200" cy="4572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DA3E948-9878-7F72-7FF9-2F0762607CFE}"/>
              </a:ext>
            </a:extLst>
          </p:cNvPr>
          <p:cNvSpPr/>
          <p:nvPr/>
        </p:nvSpPr>
        <p:spPr>
          <a:xfrm>
            <a:off x="5918930" y="1516747"/>
            <a:ext cx="3807581" cy="427127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717F29-1E7B-030F-CA06-6C5D4A9E3075}"/>
              </a:ext>
            </a:extLst>
          </p:cNvPr>
          <p:cNvSpPr txBox="1"/>
          <p:nvPr/>
        </p:nvSpPr>
        <p:spPr>
          <a:xfrm>
            <a:off x="6460577" y="1559054"/>
            <a:ext cx="100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VPC2</a:t>
            </a:r>
            <a:endParaRPr lang="en-SG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FC677F-469B-B15C-0C7D-026505C02E5C}"/>
              </a:ext>
            </a:extLst>
          </p:cNvPr>
          <p:cNvSpPr txBox="1"/>
          <p:nvPr/>
        </p:nvSpPr>
        <p:spPr>
          <a:xfrm>
            <a:off x="7570038" y="2946340"/>
            <a:ext cx="929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Tableau</a:t>
            </a:r>
            <a:endParaRPr lang="en-SG" sz="12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1C89EC-C436-312E-F133-1A8101945F0D}"/>
              </a:ext>
            </a:extLst>
          </p:cNvPr>
          <p:cNvCxnSpPr>
            <a:cxnSpLocks/>
          </p:cNvCxnSpPr>
          <p:nvPr/>
        </p:nvCxnSpPr>
        <p:spPr>
          <a:xfrm flipV="1">
            <a:off x="7048170" y="2671902"/>
            <a:ext cx="5531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82037A0A-2E20-5A8B-BD66-DA78A1E167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53" y="3778087"/>
            <a:ext cx="457200" cy="4572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1BE5CA4-9DBA-19CB-E0E9-57A20CAEF455}"/>
              </a:ext>
            </a:extLst>
          </p:cNvPr>
          <p:cNvSpPr txBox="1"/>
          <p:nvPr/>
        </p:nvSpPr>
        <p:spPr>
          <a:xfrm>
            <a:off x="3037332" y="4319158"/>
            <a:ext cx="1278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S3 Object</a:t>
            </a:r>
          </a:p>
          <a:p>
            <a:pPr algn="ctr"/>
            <a:r>
              <a:rPr lang="en-US" sz="1200" dirty="0"/>
              <a:t>Staging Storage</a:t>
            </a:r>
            <a:endParaRPr lang="en-SG" sz="12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7ED9C04-7186-19C0-78EF-A5B61E983106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3662197" y="3421545"/>
            <a:ext cx="14156" cy="356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>
            <a:extLst>
              <a:ext uri="{FF2B5EF4-FFF2-40B4-BE49-F238E27FC236}">
                <a16:creationId xmlns:a16="http://schemas.microsoft.com/office/drawing/2014/main" id="{75A90256-AFC5-58CC-DECE-5F2BCFDD5B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270" y="2392882"/>
            <a:ext cx="586428" cy="586428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ED2D900-0D20-762E-073F-2DF5604BC3CF}"/>
              </a:ext>
            </a:extLst>
          </p:cNvPr>
          <p:cNvCxnSpPr>
            <a:cxnSpLocks/>
            <a:stCxn id="57" idx="3"/>
            <a:endCxn id="65" idx="1"/>
          </p:cNvCxnSpPr>
          <p:nvPr/>
        </p:nvCxnSpPr>
        <p:spPr>
          <a:xfrm flipV="1">
            <a:off x="3904953" y="2686096"/>
            <a:ext cx="2546317" cy="13205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ableau icon transparent - High-Quality Icons for Data ...">
            <a:extLst>
              <a:ext uri="{FF2B5EF4-FFF2-40B4-BE49-F238E27FC236}">
                <a16:creationId xmlns:a16="http://schemas.microsoft.com/office/drawing/2014/main" id="{1B3C066C-AF9B-0CE0-0E6C-0CB9A412B0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5227" y="2392882"/>
            <a:ext cx="586428" cy="56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9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152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Toh Jun Long</vt:lpstr>
      <vt:lpstr>Requirements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Toh Jun Long</dc:creator>
  <cp:lastModifiedBy>Business Intelligence and Analytics</cp:lastModifiedBy>
  <cp:revision>2</cp:revision>
  <dcterms:created xsi:type="dcterms:W3CDTF">2026-09-13T23:22:33Z</dcterms:created>
  <dcterms:modified xsi:type="dcterms:W3CDTF">2026-09-14T09:48:57Z</dcterms:modified>
</cp:coreProperties>
</file>